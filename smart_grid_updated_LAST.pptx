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63" r:id="rId3"/>
    <p:sldId id="257" r:id="rId4"/>
    <p:sldId id="258" r:id="rId5"/>
    <p:sldId id="259" r:id="rId6"/>
    <p:sldId id="260" r:id="rId7"/>
    <p:sldId id="261" r:id="rId8"/>
    <p:sldId id="262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1E56A0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CV F1</c:v>
                </c:pt>
                <c:pt idx="1">
                  <c:v>Test Accuracy</c:v>
                </c:pt>
                <c:pt idx="2">
                  <c:v>Test F1</c:v>
                </c:pt>
                <c:pt idx="3">
                  <c:v>ROC-AUC</c:v>
                </c:pt>
                <c:pt idx="4">
                  <c:v>Unstable Recall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0.94499999999999995</c:v>
                </c:pt>
                <c:pt idx="1">
                  <c:v>0.95299999999999996</c:v>
                </c:pt>
                <c:pt idx="2">
                  <c:v>0.95299999999999996</c:v>
                </c:pt>
                <c:pt idx="3">
                  <c:v>0.99199999999999999</c:v>
                </c:pt>
                <c:pt idx="4">
                  <c:v>0.97599999999999998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95B-4728-84A0-2A9ACA023CE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.85"/>
        </c:scaling>
        <c:delete val="0"/>
        <c:axPos val="l"/>
        <c:majorGridlines>
          <c:spPr>
            <a:ln w="6350" cap="flat">
              <a:solidFill>
                <a:srgbClr val="1E293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11827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54649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41148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VISION 2030 : SMART GRID MODERNIZATION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914400"/>
            <a:ext cx="530703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Smart Grid Stability Classifier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20040" y="242316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Predicting Electrical Grid Stability Using Machine Learning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20040" y="3063240"/>
            <a:ext cx="228600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32461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Rafa Alshareef</a:t>
            </a:r>
            <a:r>
              <a:rPr lang="en-US" sz="130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 |  Machine Learning Project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492240" y="139903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92240" y="179222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92240" y="2295144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492240" y="408736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492240" y="44805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20040" y="466344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4" name="Rectangle 3">
            <a:extLst>
              <a:ext uri="{FF2B5EF4-FFF2-40B4-BE49-F238E27FC236}">
                <a16:creationId xmlns:a16="http://schemas.microsoft.com/office/drawing/2014/main" id="{E034BF71-BF13-5ED3-CD9A-62EDCC7E80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029" name="Picture 5" descr="Power Grid Pictures | Download Free Images on Unsplash">
            <a:extLst>
              <a:ext uri="{FF2B5EF4-FFF2-40B4-BE49-F238E27FC236}">
                <a16:creationId xmlns:a16="http://schemas.microsoft.com/office/drawing/2014/main" id="{AD52AA8B-B819-D39E-1533-B3423CDB9A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7860" y="0"/>
            <a:ext cx="3429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Overview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Bar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ectionLabel"/>
          <p:cNvSpPr/>
          <p:nvPr/>
        </p:nvSpPr>
        <p:spPr>
          <a:xfrm>
            <a:off x="320040" y="27432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59E0B"/>
                </a:solidFill>
                <a:latin typeface="Calibri" pitchFamily="34" charset="0"/>
              </a:rPr>
              <a:t>PROJECT OVERVIEW</a:t>
            </a:r>
          </a:p>
        </p:txBody>
      </p:sp>
      <p:sp>
        <p:nvSpPr>
          <p:cNvPr id="4" name="Title"/>
          <p:cNvSpPr/>
          <p:nvPr/>
        </p:nvSpPr>
        <p:spPr>
          <a:xfrm>
            <a:off x="320040" y="548640"/>
            <a:ext cx="850392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kern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 a Glance</a:t>
            </a:r>
          </a:p>
        </p:txBody>
      </p:sp>
      <p:sp>
        <p:nvSpPr>
          <p:cNvPr id="5" name="AppBox"/>
          <p:cNvSpPr/>
          <p:nvPr/>
        </p:nvSpPr>
        <p:spPr>
          <a:xfrm>
            <a:off x="320040" y="1400000"/>
            <a:ext cx="8200000" cy="900000"/>
          </a:xfrm>
          <a:prstGeom prst="rect">
            <a:avLst/>
          </a:prstGeom>
          <a:solidFill>
            <a:srgbClr val="112240"/>
          </a:solidFill>
          <a:ln w="19050">
            <a:solidFill>
              <a:srgbClr val="3B82F6"/>
            </a:solidFill>
          </a:ln>
        </p:spPr>
        <p:txBody>
          <a:bodyPr wrap="square" lIns="320040" tIns="228600" rIns="320040" bIns="22860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B82F6"/>
                </a:solidFill>
                <a:latin typeface="Calibri" pitchFamily="34" charset="0"/>
              </a:rPr>
              <a:t>APPLICATION</a:t>
            </a:r>
          </a:p>
          <a:p>
            <a:pPr marL="0" indent="0">
              <a:buNone/>
            </a:pPr>
            <a:r>
              <a:rPr lang="en-US" sz="1800" b="0" kern="0" dirty="0">
                <a:solidFill>
                  <a:srgbClr val="FFFFFF"/>
                </a:solidFill>
                <a:latin typeface="Calibri" pitchFamily="34" charset="0"/>
              </a:rPr>
              <a:t>An ML-powered classifier for </a:t>
            </a:r>
            <a:r>
              <a:rPr lang="en-US" sz="1800" b="1" kern="0" dirty="0">
                <a:solidFill>
                  <a:srgbClr val="FFFFFF"/>
                </a:solidFill>
                <a:latin typeface="Calibri" pitchFamily="34" charset="0"/>
              </a:rPr>
              <a:t>smart grid stability prediction</a:t>
            </a:r>
            <a:r>
              <a:rPr lang="en-US" sz="1800" b="0" kern="0" dirty="0">
                <a:solidFill>
                  <a:srgbClr val="FFFFFF"/>
                </a:solidFill>
                <a:latin typeface="Calibri" pitchFamily="34" charset="0"/>
              </a:rPr>
              <a:t> </a:t>
            </a:r>
            <a:r>
              <a:rPr lang="en-US" kern="0" dirty="0">
                <a:solidFill>
                  <a:srgbClr val="FFFFFF"/>
                </a:solidFill>
                <a:latin typeface="Calibri" pitchFamily="34" charset="0"/>
              </a:rPr>
              <a:t>; </a:t>
            </a:r>
            <a:r>
              <a:rPr lang="en-US" sz="1800" b="0" kern="0" dirty="0">
                <a:solidFill>
                  <a:srgbClr val="FFFFFF"/>
                </a:solidFill>
                <a:latin typeface="Calibri" pitchFamily="34" charset="0"/>
              </a:rPr>
              <a:t>aligned with Saudi Vision 2030 infrastructure modernization.</a:t>
            </a:r>
          </a:p>
        </p:txBody>
      </p:sp>
      <p:sp>
        <p:nvSpPr>
          <p:cNvPr id="6" name="GoalBox"/>
          <p:cNvSpPr/>
          <p:nvPr/>
        </p:nvSpPr>
        <p:spPr>
          <a:xfrm>
            <a:off x="320040" y="2500000"/>
            <a:ext cx="8200000" cy="900000"/>
          </a:xfrm>
          <a:prstGeom prst="rect">
            <a:avLst/>
          </a:prstGeom>
          <a:solidFill>
            <a:srgbClr val="112240"/>
          </a:solidFill>
          <a:ln w="19050">
            <a:solidFill>
              <a:srgbClr val="F59E0B"/>
            </a:solidFill>
          </a:ln>
        </p:spPr>
        <p:txBody>
          <a:bodyPr wrap="square" lIns="320040" tIns="228600" rIns="320040" bIns="22860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9E0B"/>
                </a:solidFill>
                <a:latin typeface="Calibri" pitchFamily="34" charset="0"/>
              </a:rPr>
              <a:t>THE PROBLEM</a:t>
            </a:r>
          </a:p>
          <a:p>
            <a:pPr marL="0" indent="0">
              <a:buNone/>
            </a:pPr>
            <a:r>
              <a:rPr lang="en-US" sz="1800" b="0" kern="0" dirty="0">
                <a:solidFill>
                  <a:srgbClr val="FFFFFF"/>
                </a:solidFill>
                <a:latin typeface="Calibri" pitchFamily="34" charset="0"/>
              </a:rPr>
              <a:t>Today’s grid monitoring is </a:t>
            </a:r>
            <a:r>
              <a:rPr lang="en-US" sz="1800" b="1" kern="0" dirty="0">
                <a:solidFill>
                  <a:srgbClr val="FFFFFF"/>
                </a:solidFill>
                <a:latin typeface="Calibri" pitchFamily="34" charset="0"/>
              </a:rPr>
              <a:t>reactive;</a:t>
            </a:r>
            <a:r>
              <a:rPr lang="en-US" sz="1800" b="0" kern="0" dirty="0">
                <a:solidFill>
                  <a:srgbClr val="FFFFFF"/>
                </a:solidFill>
                <a:latin typeface="Calibri" pitchFamily="34" charset="0"/>
              </a:rPr>
              <a:t> instability is only detected </a:t>
            </a:r>
            <a:r>
              <a:rPr lang="en-US" sz="1800" b="1" kern="0" dirty="0">
                <a:solidFill>
                  <a:srgbClr val="F59E0B"/>
                </a:solidFill>
                <a:latin typeface="Calibri" pitchFamily="34" charset="0"/>
              </a:rPr>
              <a:t>after it has already started.</a:t>
            </a:r>
          </a:p>
        </p:txBody>
      </p:sp>
      <p:sp>
        <p:nvSpPr>
          <p:cNvPr id="7" name="ObjBox"/>
          <p:cNvSpPr/>
          <p:nvPr/>
        </p:nvSpPr>
        <p:spPr>
          <a:xfrm>
            <a:off x="320040" y="3600000"/>
            <a:ext cx="8200000" cy="900000"/>
          </a:xfrm>
          <a:prstGeom prst="rect">
            <a:avLst/>
          </a:prstGeom>
          <a:solidFill>
            <a:srgbClr val="112240"/>
          </a:solidFill>
          <a:ln w="19050">
            <a:solidFill>
              <a:srgbClr val="22C55E"/>
            </a:solidFill>
          </a:ln>
        </p:spPr>
        <p:txBody>
          <a:bodyPr wrap="square" lIns="320040" tIns="228600" rIns="320040" bIns="22860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C55E"/>
                </a:solidFill>
                <a:latin typeface="Calibri" pitchFamily="34" charset="0"/>
              </a:rPr>
              <a:t>THE GOAL</a:t>
            </a:r>
          </a:p>
          <a:p>
            <a:pPr marL="0" indent="0">
              <a:buNone/>
            </a:pPr>
            <a:r>
              <a:rPr lang="en-US" sz="1800" b="0" kern="0" dirty="0">
                <a:solidFill>
                  <a:srgbClr val="FFFFFF"/>
                </a:solidFill>
                <a:latin typeface="Calibri" pitchFamily="34" charset="0"/>
              </a:rPr>
              <a:t>Predict grid instability </a:t>
            </a:r>
            <a:r>
              <a:rPr lang="en-US" sz="1800" b="1" kern="0" dirty="0">
                <a:solidFill>
                  <a:srgbClr val="22C55E"/>
                </a:solidFill>
                <a:latin typeface="Calibri" pitchFamily="34" charset="0"/>
              </a:rPr>
              <a:t>before it occurs</a:t>
            </a:r>
            <a:r>
              <a:rPr lang="en-US" sz="1800" b="0" kern="0" dirty="0">
                <a:solidFill>
                  <a:srgbClr val="FFFFFF"/>
                </a:solidFill>
                <a:latin typeface="Calibri" pitchFamily="34" charset="0"/>
              </a:rPr>
              <a:t>, giving operators time to prevent cascading failures.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7432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STATUS QUO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59436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How Grid Stability is Managed Today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4160520" cy="2286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416052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B82F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SCADA Systems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02920" y="170992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Supervisory Control &amp; Data Acquisition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2130552"/>
            <a:ext cx="3931920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individual sensor readings (voltage, frequency, current) in real time. Triggers alarms when a single threshold is crossed. Operators manually intervene by rerouting power or switching breakers.</a:t>
            </a:r>
            <a:endParaRPr lang="en-US" sz="1200" dirty="0"/>
          </a:p>
          <a:p>
            <a:r>
              <a:rPr lang="en-US" sz="1200" dirty="0">
                <a:solidFill>
                  <a:schemeClr val="bg1"/>
                </a:solidFill>
              </a:rPr>
              <a:t> </a:t>
            </a:r>
          </a:p>
          <a:p>
            <a:pPr marL="0" indent="0">
              <a:buNone/>
            </a:pPr>
            <a:endParaRPr lang="en-US" sz="1200" dirty="0">
              <a:solidFill>
                <a:srgbClr val="F1F5F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754880" y="1244991"/>
            <a:ext cx="4160520" cy="2286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200" dirty="0">
              <a:solidFill>
                <a:schemeClr val="bg1"/>
              </a:solidFill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1200" dirty="0">
              <a:solidFill>
                <a:schemeClr val="bg1"/>
              </a:solidFill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1200" dirty="0">
              <a:solidFill>
                <a:schemeClr val="bg1"/>
              </a:solidFill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1200" dirty="0">
              <a:solidFill>
                <a:schemeClr val="bg1"/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run periodic (monthly/quarterly) scenario simulations to identify grid vulnerabilities. Results guide protection relay settings and maintenance planning.</a:t>
            </a:r>
            <a:endParaRPr lang="en-US" sz="12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11" name="Shape 9"/>
          <p:cNvSpPr/>
          <p:nvPr/>
        </p:nvSpPr>
        <p:spPr>
          <a:xfrm>
            <a:off x="4754880" y="1234440"/>
            <a:ext cx="416052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37760" y="137160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A5E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Physics Simulation Tools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937760" y="170992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PSS/E, PowerWorld, DIgSILENT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37760" y="2039112"/>
            <a:ext cx="3794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0040" y="36118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LIMITATIONS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3931920"/>
            <a:ext cx="2011680" cy="960120"/>
          </a:xfrm>
          <a:prstGeom prst="rect">
            <a:avLst/>
          </a:prstGeom>
          <a:solidFill>
            <a:srgbClr val="1F1111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86968" y="4251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Only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29768" y="427939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496312" y="3931920"/>
            <a:ext cx="2011680" cy="960120"/>
          </a:xfrm>
          <a:prstGeom prst="rect">
            <a:avLst/>
          </a:prstGeom>
          <a:solidFill>
            <a:srgbClr val="1F1111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926080" y="42748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Threshold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606040" y="427939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72584" y="3931920"/>
            <a:ext cx="2011680" cy="960120"/>
          </a:xfrm>
          <a:prstGeom prst="rect">
            <a:avLst/>
          </a:prstGeom>
          <a:solidFill>
            <a:srgbClr val="1F1111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129784" y="42336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Real-Time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82312" y="427939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848856" y="3931920"/>
            <a:ext cx="2011680" cy="960120"/>
          </a:xfrm>
          <a:prstGeom prst="rect">
            <a:avLst/>
          </a:prstGeom>
          <a:solidFill>
            <a:srgbClr val="1F1111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306056" y="42153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Human-Dependent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958584" y="427939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5" name="Rectangle 6">
            <a:extLst>
              <a:ext uri="{FF2B5EF4-FFF2-40B4-BE49-F238E27FC236}">
                <a16:creationId xmlns:a16="http://schemas.microsoft.com/office/drawing/2014/main" id="{D7B4AFC5-036D-CB06-2A70-222B84E068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46194"/>
            <a:ext cx="184731" cy="292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7432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 FOR ML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59436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Why Machine Learning Changes Everything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8503920" cy="685800"/>
          </a:xfrm>
          <a:prstGeom prst="rect">
            <a:avLst/>
          </a:prstGeom>
          <a:solidFill>
            <a:srgbClr val="0D2137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ML TASK : Binary Classification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02920" y="15544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965960"/>
            <a:ext cx="2423160" cy="521208"/>
          </a:xfrm>
          <a:prstGeom prst="rect">
            <a:avLst/>
          </a:prstGeom>
          <a:solidFill>
            <a:srgbClr val="1E56A0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29768" y="2029968"/>
            <a:ext cx="2194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880360" y="1965960"/>
            <a:ext cx="2926080" cy="521208"/>
          </a:xfrm>
          <a:prstGeom prst="rect">
            <a:avLst/>
          </a:prstGeom>
          <a:solidFill>
            <a:srgbClr val="1E56A0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990088" y="2029968"/>
            <a:ext cx="2697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ML (SCADA)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0" y="1965960"/>
            <a:ext cx="2788920" cy="521208"/>
          </a:xfrm>
          <a:prstGeom prst="rect">
            <a:avLst/>
          </a:prstGeom>
          <a:solidFill>
            <a:srgbClr val="1E56A0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053328" y="2029968"/>
            <a:ext cx="2560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532888"/>
            <a:ext cx="2423160" cy="521208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29768" y="2596896"/>
            <a:ext cx="2194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880360" y="2532888"/>
            <a:ext cx="2926080" cy="521208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990088" y="2596896"/>
            <a:ext cx="2697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instability after it starts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43600" y="2532888"/>
            <a:ext cx="2788920" cy="521208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053328" y="2596896"/>
            <a:ext cx="2560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instability before it occurs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3099816"/>
            <a:ext cx="2423160" cy="521208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29768" y="3163824"/>
            <a:ext cx="2194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880360" y="3099816"/>
            <a:ext cx="2926080" cy="521208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990088" y="3163824"/>
            <a:ext cx="2697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staffed control rooms, engineers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943600" y="3099816"/>
            <a:ext cx="2788920" cy="521208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053328" y="3163824"/>
            <a:ext cx="2560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training, near-zero inference cost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" y="3666744"/>
            <a:ext cx="2423160" cy="521208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29768" y="3730752"/>
            <a:ext cx="2194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880360" y="3666744"/>
            <a:ext cx="2926080" cy="521208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990088" y="3730752"/>
            <a:ext cx="2697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threshold updates by engineers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943600" y="3666744"/>
            <a:ext cx="2788920" cy="521208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053328" y="3730752"/>
            <a:ext cx="2560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retraining when new data released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0040" y="4233672"/>
            <a:ext cx="2423160" cy="521208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29768" y="4297680"/>
            <a:ext cx="2194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Expertise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880360" y="4233672"/>
            <a:ext cx="2926080" cy="521208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2990088" y="4297680"/>
            <a:ext cx="2697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power systems engineers required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943600" y="4233672"/>
            <a:ext cx="2788920" cy="521208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053328" y="4297680"/>
            <a:ext cx="2560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operator queries the model via dashboard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7432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ASSESSMENT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59436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Quantity, Quality &amp; The ART Test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1371600" cy="82296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2801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20040" y="17190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Rows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755648" y="1234440"/>
            <a:ext cx="1371600" cy="82296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755648" y="12801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755648" y="17190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191256" y="1234440"/>
            <a:ext cx="1371600" cy="82296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191256" y="12801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191256" y="17190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Features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26864" y="1234440"/>
            <a:ext cx="1371600" cy="82296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626864" y="12801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626864" y="17190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062472" y="1234440"/>
            <a:ext cx="1371600" cy="82296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062472" y="12801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63.8%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062472" y="17190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Unstable Class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498080" y="1234440"/>
            <a:ext cx="1371600" cy="82296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498080" y="12801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36.2%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498080" y="17190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Class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20040" y="217627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ART TEST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2542032"/>
            <a:ext cx="2743200" cy="233172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20040" y="2542032"/>
            <a:ext cx="27432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84632" y="2724912"/>
            <a:ext cx="475488" cy="47548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4632" y="27249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069848" y="277977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Available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484632" y="3346704"/>
            <a:ext cx="2423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12 input features are measurable in real-time by smart meters and PMUs already deployed in modern grids. No privileged or future data required.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227832" y="2542032"/>
            <a:ext cx="2743200" cy="233172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227832" y="2542032"/>
            <a:ext cx="27432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392424" y="2724912"/>
            <a:ext cx="475488" cy="47548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392424" y="27249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3977640" y="277977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B82F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Representative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3392424" y="3346704"/>
            <a:ext cx="2423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physics-based simulations spanning the full parameter space of the DSGC system. Class ratio (63.8% unstable) reflects real operational risk distribution.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135624" y="2542032"/>
            <a:ext cx="2743200" cy="233172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135624" y="2542032"/>
            <a:ext cx="27432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300216" y="2724912"/>
            <a:ext cx="475488" cy="47548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300216" y="27249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6885432" y="277977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Trusted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6300216" y="3346704"/>
            <a:ext cx="2423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by Karlsruhe Institute of Technology, peer-reviewed in European Physical Journal Special Topics. CC BY 4.0 license. Not scraped or user-generated data.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7432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59436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From Raw Measurements to Predictive Signals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20040" y="1234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ENGINEERED FEATURES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1600200"/>
            <a:ext cx="5029200" cy="475488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63677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total_reaction_time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85623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tau1+tau2+tau3+tau4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834640" y="17099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system sluggishness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2148840"/>
            <a:ext cx="5029200" cy="475488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218541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reaction_time_variance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40487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var(tau1..tau4)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834640" y="22585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coordination quality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697480"/>
            <a:ext cx="5029200" cy="475488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273405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producer_consumer_ratio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295351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tau1 / mean(tau2,3,4)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834640" y="28072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 vs consumer speed gap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3246120"/>
            <a:ext cx="5029200" cy="475488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328269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avg_price_elasticity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350215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mean(g1..g4)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834640" y="33558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Self-correction capability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3794760"/>
            <a:ext cx="5029200" cy="475488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" y="383133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net_power_balance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05079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p1+p2+p3+p4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834640" y="39044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vs demand mismatch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" y="4343400"/>
            <a:ext cx="5029200" cy="475488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57200" y="437997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tau1_x_g1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459943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tau1 × (1 - g1)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834640" y="44531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producer risk score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577840" y="12344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(Random Forest)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577840" y="16002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total_reaction_time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406640" y="1645920"/>
            <a:ext cx="1463040" cy="1828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7406640" y="1662098"/>
            <a:ext cx="1463040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915400" y="16002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16.5%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577840" y="202082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avg_price_elasticity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406640" y="2066544"/>
            <a:ext cx="1463040" cy="1828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7406640" y="2066544"/>
            <a:ext cx="1463040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8915400" y="202082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16.3%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577840" y="244144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reaction_time_variance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406640" y="2487168"/>
            <a:ext cx="1463040" cy="1828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7406640" y="2487168"/>
            <a:ext cx="960120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8915400" y="24414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7.5%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577840" y="28620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tau3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406640" y="2907792"/>
            <a:ext cx="1463040" cy="1828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7406640" y="2907792"/>
            <a:ext cx="870509" cy="1828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8915400" y="28620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6.8%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577840" y="328269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tau4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7406640" y="3328416"/>
            <a:ext cx="1463040" cy="1828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7406640" y="3328416"/>
            <a:ext cx="806501" cy="1828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8915400" y="328269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6.3%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577840" y="37033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tau2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7406640" y="3749040"/>
            <a:ext cx="1463040" cy="1828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7406640" y="3749040"/>
            <a:ext cx="793699" cy="1828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8915400" y="3703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6.2%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5577840" y="412394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producer_consumer_ratio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7406640" y="4169664"/>
            <a:ext cx="1463040" cy="1828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7406640" y="4169664"/>
            <a:ext cx="576072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8915400" y="412394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4.5%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5577840" y="45445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tau1_x_g1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7406640" y="4590288"/>
            <a:ext cx="1463040" cy="1828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7406640" y="4590288"/>
            <a:ext cx="448056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8915400" y="45445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3.5%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5577840" y="48006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= Engineered features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7432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&amp; DECISIONS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59436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From Model Output to Operator Action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8503920" cy="658368"/>
          </a:xfrm>
          <a:prstGeom prst="rect">
            <a:avLst/>
          </a:prstGeom>
          <a:solidFill>
            <a:srgbClr val="0D1E35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3075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MODEL OUTPUT: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02920" y="15727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label (STABLE or UNSTABLE)  +  Probability score (0.0 to 1.0) for each class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99339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THRESHOLD SYSTEM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2331720"/>
            <a:ext cx="8503920" cy="603504"/>
          </a:xfrm>
          <a:prstGeom prst="rect">
            <a:avLst/>
          </a:prstGeom>
          <a:solidFill>
            <a:srgbClr val="1F1111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0040" y="2331720"/>
            <a:ext cx="73152" cy="60350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238658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Unstable  &gt;80%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265176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1,192 cases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331720" y="2423160"/>
            <a:ext cx="6400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automated protective action — load shedding or circuit rerouting triggered automatically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3008376"/>
            <a:ext cx="8503920" cy="603504"/>
          </a:xfrm>
          <a:prstGeom prst="rect">
            <a:avLst/>
          </a:prstGeom>
          <a:solidFill>
            <a:srgbClr val="1F1A0D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0040" y="3008376"/>
            <a:ext cx="73152" cy="6035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30632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Unstable 60-80%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332841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 cases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331720" y="3099816"/>
            <a:ext cx="6400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 issued to operator — prepare protective measures, monitor every second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" y="3685032"/>
            <a:ext cx="8503920" cy="603504"/>
          </a:xfrm>
          <a:prstGeom prst="rect">
            <a:avLst/>
          </a:prstGeom>
          <a:solidFill>
            <a:srgbClr val="0D1F16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20040" y="3685032"/>
            <a:ext cx="73152" cy="60350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2920" y="373989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 &gt;75%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" y="4005072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595 cases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331720" y="3776472"/>
            <a:ext cx="6400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operation confirmed — no intervention required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" y="4361688"/>
            <a:ext cx="8503920" cy="603504"/>
          </a:xfrm>
          <a:prstGeom prst="rect">
            <a:avLst/>
          </a:prstGeom>
          <a:solidFill>
            <a:srgbClr val="111827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20040" y="4361688"/>
            <a:ext cx="73152" cy="60350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02920" y="441655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 &lt;75%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2920" y="4681728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 cases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331720" y="4453128"/>
            <a:ext cx="6400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for increased monitoring — borderline configuration warrants attention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7432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SUCCESS CRITERIA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530704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Model Performance &amp; Go/No-Go Thresholds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Chart 0"/>
          <p:cNvGraphicFramePr/>
          <p:nvPr/>
        </p:nvGraphicFramePr>
        <p:xfrm>
          <a:off x="320040" y="1188720"/>
          <a:ext cx="502920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397764" y="1042416"/>
            <a:ext cx="5029200" cy="256032"/>
          </a:xfrm>
          <a:prstGeom prst="rect">
            <a:avLst/>
          </a:prstGeom>
          <a:solidFill>
            <a:srgbClr val="1A1A2E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34924" y="1088839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(majority class): 63.8%  →  Model beats baseline by +31 percentage points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532120" y="11887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&amp; FAILURE CRITERIA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532120" y="1508760"/>
            <a:ext cx="1188720" cy="292608"/>
          </a:xfrm>
          <a:prstGeom prst="rect">
            <a:avLst/>
          </a:prstGeom>
          <a:solidFill>
            <a:srgbClr val="1E56A0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605272" y="153619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766560" y="1508760"/>
            <a:ext cx="960120" cy="292608"/>
          </a:xfrm>
          <a:prstGeom prst="rect">
            <a:avLst/>
          </a:prstGeom>
          <a:solidFill>
            <a:srgbClr val="1E56A0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839712" y="153619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772400" y="1508760"/>
            <a:ext cx="749808" cy="292608"/>
          </a:xfrm>
          <a:prstGeom prst="rect">
            <a:avLst/>
          </a:prstGeom>
          <a:solidFill>
            <a:srgbClr val="1E56A0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845552" y="1536192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8549640" y="1508760"/>
            <a:ext cx="274320" cy="292608"/>
          </a:xfrm>
          <a:prstGeom prst="rect">
            <a:avLst/>
          </a:prstGeom>
          <a:solidFill>
            <a:srgbClr val="1E56A0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8622792" y="1536192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532120" y="1828800"/>
            <a:ext cx="1188720" cy="402336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6766560" y="1828800"/>
            <a:ext cx="960120" cy="402336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7772400" y="1828800"/>
            <a:ext cx="749808" cy="402336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8549640" y="1828800"/>
            <a:ext cx="274320" cy="402336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5605272" y="1901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F1 Weighted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6839712" y="190195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&gt;= 0.90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7845552" y="190195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0.945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577072" y="19019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5532120" y="2286000"/>
            <a:ext cx="1188720" cy="402336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6766560" y="2286000"/>
            <a:ext cx="960120" cy="402336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7772400" y="2286000"/>
            <a:ext cx="749808" cy="402336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8549640" y="2286000"/>
            <a:ext cx="274320" cy="402336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5605272" y="23591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6839712" y="235915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&gt;= 0.88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7845552" y="235915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0.953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8577072" y="23591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5532120" y="2743200"/>
            <a:ext cx="1188720" cy="402336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6766560" y="2743200"/>
            <a:ext cx="960120" cy="402336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7772400" y="2743200"/>
            <a:ext cx="749808" cy="402336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8549640" y="2743200"/>
            <a:ext cx="274320" cy="402336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5605272" y="28163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F1 Weighted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6839712" y="281635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&gt;= 0.88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7845552" y="281635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0.953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8577072" y="28163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800" dirty="0"/>
          </a:p>
        </p:txBody>
      </p:sp>
      <p:sp>
        <p:nvSpPr>
          <p:cNvPr id="41" name="Shape 38"/>
          <p:cNvSpPr/>
          <p:nvPr/>
        </p:nvSpPr>
        <p:spPr>
          <a:xfrm>
            <a:off x="5532120" y="3200400"/>
            <a:ext cx="1188720" cy="402336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39"/>
          <p:cNvSpPr/>
          <p:nvPr/>
        </p:nvSpPr>
        <p:spPr>
          <a:xfrm>
            <a:off x="6766560" y="3200400"/>
            <a:ext cx="960120" cy="402336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0"/>
          <p:cNvSpPr/>
          <p:nvPr/>
        </p:nvSpPr>
        <p:spPr>
          <a:xfrm>
            <a:off x="7772400" y="3200400"/>
            <a:ext cx="749808" cy="402336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1"/>
          <p:cNvSpPr/>
          <p:nvPr/>
        </p:nvSpPr>
        <p:spPr>
          <a:xfrm>
            <a:off x="8549640" y="3200400"/>
            <a:ext cx="274320" cy="402336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5605272" y="32735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Unstable Recall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6839712" y="327355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&gt;= 0.90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7845552" y="327355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0.976</a:t>
            </a:r>
            <a:endParaRPr lang="en-US" sz="1100" dirty="0"/>
          </a:p>
        </p:txBody>
      </p:sp>
      <p:sp>
        <p:nvSpPr>
          <p:cNvPr id="48" name="Text 45"/>
          <p:cNvSpPr/>
          <p:nvPr/>
        </p:nvSpPr>
        <p:spPr>
          <a:xfrm>
            <a:off x="8577072" y="32735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800" dirty="0"/>
          </a:p>
        </p:txBody>
      </p:sp>
      <p:sp>
        <p:nvSpPr>
          <p:cNvPr id="49" name="Shape 46"/>
          <p:cNvSpPr/>
          <p:nvPr/>
        </p:nvSpPr>
        <p:spPr>
          <a:xfrm>
            <a:off x="5532120" y="3657600"/>
            <a:ext cx="1188720" cy="402336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7"/>
          <p:cNvSpPr/>
          <p:nvPr/>
        </p:nvSpPr>
        <p:spPr>
          <a:xfrm>
            <a:off x="6766560" y="3657600"/>
            <a:ext cx="960120" cy="402336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8"/>
          <p:cNvSpPr/>
          <p:nvPr/>
        </p:nvSpPr>
        <p:spPr>
          <a:xfrm>
            <a:off x="7772400" y="3657600"/>
            <a:ext cx="749808" cy="402336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49"/>
          <p:cNvSpPr/>
          <p:nvPr/>
        </p:nvSpPr>
        <p:spPr>
          <a:xfrm>
            <a:off x="8549640" y="3657600"/>
            <a:ext cx="274320" cy="402336"/>
          </a:xfrm>
          <a:prstGeom prst="rect">
            <a:avLst/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0"/>
          <p:cNvSpPr/>
          <p:nvPr/>
        </p:nvSpPr>
        <p:spPr>
          <a:xfrm>
            <a:off x="5605272" y="37307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900" dirty="0"/>
          </a:p>
        </p:txBody>
      </p:sp>
      <p:sp>
        <p:nvSpPr>
          <p:cNvPr id="54" name="Text 51"/>
          <p:cNvSpPr/>
          <p:nvPr/>
        </p:nvSpPr>
        <p:spPr>
          <a:xfrm>
            <a:off x="6839712" y="373075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&gt;= 0.92</a:t>
            </a:r>
            <a:endParaRPr lang="en-US" sz="1000" dirty="0"/>
          </a:p>
        </p:txBody>
      </p:sp>
      <p:sp>
        <p:nvSpPr>
          <p:cNvPr id="55" name="Text 52"/>
          <p:cNvSpPr/>
          <p:nvPr/>
        </p:nvSpPr>
        <p:spPr>
          <a:xfrm>
            <a:off x="7845552" y="373075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0.992</a:t>
            </a:r>
            <a:endParaRPr lang="en-US" sz="1100" dirty="0"/>
          </a:p>
        </p:txBody>
      </p:sp>
      <p:sp>
        <p:nvSpPr>
          <p:cNvPr id="56" name="Text 53"/>
          <p:cNvSpPr/>
          <p:nvPr/>
        </p:nvSpPr>
        <p:spPr>
          <a:xfrm>
            <a:off x="8577072" y="37307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800" dirty="0"/>
          </a:p>
        </p:txBody>
      </p:sp>
      <p:sp>
        <p:nvSpPr>
          <p:cNvPr id="57" name="Shape 54"/>
          <p:cNvSpPr/>
          <p:nvPr/>
        </p:nvSpPr>
        <p:spPr>
          <a:xfrm>
            <a:off x="320040" y="4206240"/>
            <a:ext cx="8503920" cy="658368"/>
          </a:xfrm>
          <a:prstGeom prst="rect">
            <a:avLst/>
          </a:prstGeom>
          <a:solidFill>
            <a:srgbClr val="0D1F16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5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SUCCESS CRITERIA PASSED 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uccess Criteria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Bar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Label"/>
          <p:cNvSpPr/>
          <p:nvPr/>
        </p:nvSpPr>
        <p:spPr>
          <a:xfrm>
            <a:off x="320040" y="27432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22C55E"/>
                </a:solidFill>
                <a:latin typeface="Calibri" pitchFamily="34" charset="0"/>
              </a:rPr>
              <a:t>SUCCESS CRITERIA</a:t>
            </a:r>
          </a:p>
        </p:txBody>
      </p:sp>
      <p:sp>
        <p:nvSpPr>
          <p:cNvPr id="4" name="Title"/>
          <p:cNvSpPr/>
          <p:nvPr/>
        </p:nvSpPr>
        <p:spPr>
          <a:xfrm>
            <a:off x="320040" y="500000"/>
            <a:ext cx="850392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kern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Does the Model Meet the Bar?</a:t>
            </a:r>
          </a:p>
        </p:txBody>
      </p:sp>
      <p:sp>
        <p:nvSpPr>
          <p:cNvPr id="5" name="Row1"/>
          <p:cNvSpPr/>
          <p:nvPr/>
        </p:nvSpPr>
        <p:spPr>
          <a:xfrm>
            <a:off x="320040" y="1280000"/>
            <a:ext cx="8200000" cy="950000"/>
          </a:xfrm>
          <a:prstGeom prst="rect">
            <a:avLst/>
          </a:prstGeom>
          <a:solidFill>
            <a:srgbClr val="0D1F35"/>
          </a:solidFill>
          <a:ln w="0">
            <a:noFill/>
          </a:ln>
        </p:spPr>
        <p:txBody>
          <a:bodyPr wrap="square" lIns="320040" tIns="200000" rIns="320040" bIns="200000" rtlCol="0" anchor="ctr"/>
          <a:lstStyle/>
          <a:p>
            <a:pPr marL="0" indent="0">
              <a:buNone/>
            </a:pPr>
            <a:r>
              <a:rPr lang="en-US" sz="1400" b="0" kern="0" dirty="0">
                <a:solidFill>
                  <a:srgbClr val="9CA3AF"/>
                </a:solidFill>
                <a:latin typeface="Calibri" pitchFamily="34" charset="0"/>
              </a:rPr>
              <a:t>To deploy, the model must catch at least 95% of unstable grid events</a:t>
            </a:r>
          </a:p>
          <a:p>
            <a:pPr marL="0" indent="0">
              <a:buNone/>
            </a:pPr>
            <a:r>
              <a:rPr lang="en-US" sz="1600" b="1" kern="0" dirty="0">
                <a:solidFill>
                  <a:srgbClr val="22C55E"/>
                </a:solidFill>
                <a:latin typeface="Calibri" pitchFamily="34" charset="0"/>
              </a:rPr>
              <a:t>✓  Model achieved 97.6% recall on unstable cases</a:t>
            </a:r>
          </a:p>
        </p:txBody>
      </p:sp>
      <p:sp>
        <p:nvSpPr>
          <p:cNvPr id="6" name="Row2"/>
          <p:cNvSpPr/>
          <p:nvPr/>
        </p:nvSpPr>
        <p:spPr>
          <a:xfrm>
            <a:off x="320040" y="2290000"/>
            <a:ext cx="8200000" cy="950000"/>
          </a:xfrm>
          <a:prstGeom prst="rect">
            <a:avLst/>
          </a:prstGeom>
          <a:solidFill>
            <a:srgbClr val="112240"/>
          </a:solidFill>
          <a:ln w="0">
            <a:noFill/>
          </a:ln>
        </p:spPr>
        <p:txBody>
          <a:bodyPr wrap="square" lIns="320040" tIns="200000" rIns="320040" bIns="200000" rtlCol="0" anchor="ctr"/>
          <a:lstStyle/>
          <a:p>
            <a:pPr marL="0" indent="0">
              <a:buNone/>
            </a:pPr>
            <a:r>
              <a:rPr lang="en-US" sz="1400" b="0" kern="0" dirty="0">
                <a:solidFill>
                  <a:srgbClr val="9CA3AF"/>
                </a:solidFill>
                <a:latin typeface="Calibri" pitchFamily="34" charset="0"/>
              </a:rPr>
              <a:t>Overall prediction accuracy must exceed 88% to be operationally reliable</a:t>
            </a:r>
          </a:p>
          <a:p>
            <a:pPr marL="0" indent="0">
              <a:buNone/>
            </a:pPr>
            <a:r>
              <a:rPr lang="en-US" sz="1600" b="1" kern="0" dirty="0">
                <a:solidFill>
                  <a:srgbClr val="22C55E"/>
                </a:solidFill>
                <a:latin typeface="Calibri" pitchFamily="34" charset="0"/>
              </a:rPr>
              <a:t>✓  Model achieved 95.3% accuracy across all grid conditions</a:t>
            </a:r>
          </a:p>
        </p:txBody>
      </p:sp>
      <p:sp>
        <p:nvSpPr>
          <p:cNvPr id="7" name="Row3"/>
          <p:cNvSpPr/>
          <p:nvPr/>
        </p:nvSpPr>
        <p:spPr>
          <a:xfrm>
            <a:off x="320040" y="3300000"/>
            <a:ext cx="8200000" cy="950000"/>
          </a:xfrm>
          <a:prstGeom prst="rect">
            <a:avLst/>
          </a:prstGeom>
          <a:solidFill>
            <a:srgbClr val="0D1F35"/>
          </a:solidFill>
          <a:ln w="0">
            <a:noFill/>
          </a:ln>
        </p:spPr>
        <p:txBody>
          <a:bodyPr wrap="square" lIns="320040" tIns="200000" rIns="320040" bIns="200000" rtlCol="0" anchor="ctr"/>
          <a:lstStyle/>
          <a:p>
            <a:pPr marL="0" indent="0">
              <a:buNone/>
            </a:pPr>
            <a:r>
              <a:rPr lang="en-US" sz="1400" b="0" kern="0" dirty="0">
                <a:solidFill>
                  <a:srgbClr val="9CA3AF"/>
                </a:solidFill>
                <a:latin typeface="Calibri" pitchFamily="34" charset="0"/>
              </a:rPr>
              <a:t>Consistent performance across unseen data, not just training data</a:t>
            </a:r>
          </a:p>
          <a:p>
            <a:pPr marL="0" indent="0">
              <a:buNone/>
            </a:pPr>
            <a:r>
              <a:rPr lang="en-US" sz="1600" b="1" kern="0" dirty="0">
                <a:solidFill>
                  <a:srgbClr val="22C55E"/>
                </a:solidFill>
                <a:latin typeface="Calibri" pitchFamily="34" charset="0"/>
              </a:rPr>
              <a:t>✓  Cross-validation F1 of 0.945 confirms stable, generalizable performance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2340</TotalTime>
  <Words>766</Words>
  <Application>Microsoft Office PowerPoint</Application>
  <PresentationFormat>On-screen Show (16:9)</PresentationFormat>
  <Paragraphs>173</Paragraphs>
  <Slides>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Consolas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Grid Stability Classifier</dc:title>
  <dc:subject>PptxGenJS Presentation</dc:subject>
  <dc:creator>Rafa</dc:creator>
  <cp:lastModifiedBy>aml almiski</cp:lastModifiedBy>
  <cp:revision>8</cp:revision>
  <dcterms:created xsi:type="dcterms:W3CDTF">2026-04-25T12:53:57Z</dcterms:created>
  <dcterms:modified xsi:type="dcterms:W3CDTF">2026-04-27T11:29:06Z</dcterms:modified>
</cp:coreProperties>
</file>